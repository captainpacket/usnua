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</p:sldIdLst>
  <p:sldSz cx="9144000" cy="5715000" type="screen16x1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45" d="100"/>
          <a:sy n="145" d="100"/>
        </p:scale>
        <p:origin x="1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3672418"/>
            <a:ext cx="7772401" cy="113506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422261"/>
            <a:ext cx="7772401" cy="1250157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333500"/>
            <a:ext cx="4038600" cy="3771638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279260"/>
            <a:ext cx="4040188" cy="533137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6" y="1279260"/>
            <a:ext cx="4041776" cy="533137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1" y="227541"/>
            <a:ext cx="3008315" cy="968376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3575050" y="227542"/>
            <a:ext cx="5111750" cy="487759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201" y="1195917"/>
            <a:ext cx="3008315" cy="390922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000500"/>
            <a:ext cx="5486401" cy="47228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510646"/>
            <a:ext cx="5486401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4472782"/>
            <a:ext cx="5486401" cy="6707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>
            <a:spLocks noGrp="1"/>
          </p:cNvSpPr>
          <p:nvPr>
            <p:ph type="title"/>
          </p:nvPr>
        </p:nvSpPr>
        <p:spPr>
          <a:xfrm>
            <a:off x="6629400" y="228865"/>
            <a:ext cx="2057400" cy="48762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2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228865"/>
            <a:ext cx="6019800" cy="487627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228865"/>
            <a:ext cx="8229600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5324942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GoogleCloudPlatform/terraformer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FLNUG Cover Page.png" descr="FLNUG Cover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Presented By:"/>
          <p:cNvSpPr txBox="1"/>
          <p:nvPr/>
        </p:nvSpPr>
        <p:spPr>
          <a:xfrm>
            <a:off x="141798" y="4779965"/>
            <a:ext cx="963157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DDDDDD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Presented By:</a:t>
            </a:r>
          </a:p>
        </p:txBody>
      </p:sp>
      <p:pic>
        <p:nvPicPr>
          <p:cNvPr id="114" name="usnua-logo-white.png" descr="usnua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36" y="5051349"/>
            <a:ext cx="1553542" cy="526225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Presentation Title"/>
          <p:cNvSpPr txBox="1"/>
          <p:nvPr/>
        </p:nvSpPr>
        <p:spPr>
          <a:xfrm>
            <a:off x="256687" y="2843868"/>
            <a:ext cx="8630626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6000">
                <a:solidFill>
                  <a:srgbClr val="570BAF"/>
                </a:solidFill>
              </a:defRPr>
            </a:lvl1pPr>
          </a:lstStyle>
          <a:p>
            <a:pPr marL="0" lvl="0" indent="0" algn="r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400" dirty="0"/>
              <a:t>Skills that </a:t>
            </a:r>
            <a:r>
              <a:rPr lang="en-US" sz="2400" dirty="0" err="1"/>
              <a:t>Killz</a:t>
            </a:r>
            <a:r>
              <a:rPr lang="en-US" sz="2400" dirty="0"/>
              <a:t>: From Network to Cloud Engineer</a:t>
            </a:r>
          </a:p>
        </p:txBody>
      </p:sp>
      <p:pic>
        <p:nvPicPr>
          <p:cNvPr id="116" name="flnug-logo.png" descr="flnug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977" y="109725"/>
            <a:ext cx="6621844" cy="2432117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Google Shape;66;p13">
            <a:extLst>
              <a:ext uri="{FF2B5EF4-FFF2-40B4-BE49-F238E27FC236}">
                <a16:creationId xmlns:a16="http://schemas.microsoft.com/office/drawing/2014/main" id="{69165F58-5A9D-AA42-F23B-CC98014C1632}"/>
              </a:ext>
            </a:extLst>
          </p:cNvPr>
          <p:cNvSpPr txBox="1">
            <a:spLocks/>
          </p:cNvSpPr>
          <p:nvPr/>
        </p:nvSpPr>
        <p:spPr>
          <a:xfrm>
            <a:off x="0" y="3689350"/>
            <a:ext cx="8229600" cy="804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spcFirstLastPara="1" wrap="square" lIns="45700" tIns="45700" rIns="45700" bIns="45700" anchor="t" anchorCtr="0">
            <a:noAutofit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 algn="r" hangingPunct="1">
              <a:buFont typeface="Arial"/>
              <a:buNone/>
            </a:pPr>
            <a:r>
              <a:rPr lang="en-US"/>
              <a:t>Presented by Craig Johnson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7DC9D3-53B8-5609-B8F6-4C3AB3D44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FLNUG Slide Page.png" descr="FLNUG Slide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PAGE TITLE"/>
          <p:cNvSpPr txBox="1"/>
          <p:nvPr/>
        </p:nvSpPr>
        <p:spPr>
          <a:xfrm>
            <a:off x="6735788" y="105978"/>
            <a:ext cx="2273249" cy="58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3800">
                <a:solidFill>
                  <a:srgbClr val="570BAF"/>
                </a:solidFill>
              </a:defRPr>
            </a:lvl1pPr>
          </a:lstStyle>
          <a:p>
            <a:r>
              <a:t>PAGE TITLE</a:t>
            </a:r>
          </a:p>
        </p:txBody>
      </p:sp>
      <p:sp>
        <p:nvSpPr>
          <p:cNvPr id="120" name="Presented By:"/>
          <p:cNvSpPr txBox="1"/>
          <p:nvPr/>
        </p:nvSpPr>
        <p:spPr>
          <a:xfrm>
            <a:off x="141798" y="4779965"/>
            <a:ext cx="963157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DDDDDD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Presented By:</a:t>
            </a:r>
          </a:p>
        </p:txBody>
      </p:sp>
      <p:pic>
        <p:nvPicPr>
          <p:cNvPr id="121" name="usnua-logo-white.png" descr="usnua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36" y="5051349"/>
            <a:ext cx="1553542" cy="52622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Google Shape;80;p15">
            <a:extLst>
              <a:ext uri="{FF2B5EF4-FFF2-40B4-BE49-F238E27FC236}">
                <a16:creationId xmlns:a16="http://schemas.microsoft.com/office/drawing/2014/main" id="{902927C9-3395-199E-9B61-B0063D4C96EB}"/>
              </a:ext>
            </a:extLst>
          </p:cNvPr>
          <p:cNvSpPr txBox="1">
            <a:spLocks/>
          </p:cNvSpPr>
          <p:nvPr/>
        </p:nvSpPr>
        <p:spPr>
          <a:xfrm>
            <a:off x="483773" y="818985"/>
            <a:ext cx="7772401" cy="3703527"/>
          </a:xfrm>
          <a:prstGeom prst="rect">
            <a:avLst/>
          </a:prstGeom>
        </p:spPr>
        <p:txBody>
          <a:bodyPr spcFirstLastPara="1" wrap="square" lIns="45700" tIns="45700" rIns="45700" bIns="45700" anchor="b" anchorCtr="0">
            <a:normAutofit fontScale="32500" lnSpcReduction="20000"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 dirty="0"/>
              <a:t>On prem network engineer for way too long🌐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Operations, architecture, post sales, pre-sales, </a:t>
            </a:r>
            <a:r>
              <a:rPr lang="en-US" sz="4800" dirty="0" err="1"/>
              <a:t>etc</a:t>
            </a:r>
            <a:endParaRPr lang="en-US" sz="4800" dirty="0"/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8 years at the mothership in post sales</a:t>
            </a:r>
          </a:p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 dirty="0"/>
              <a:t>Mostly a CLI junkie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Built way too many labs/studied for certifications building topologies physically and in EVE-NG/GNS</a:t>
            </a:r>
          </a:p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 dirty="0"/>
              <a:t>Why cloud computing?</a:t>
            </a:r>
            <a:r>
              <a:rPr lang="en-US" sz="4400" dirty="0">
                <a:solidFill>
                  <a:srgbClr val="D1D5DB"/>
                </a:solidFill>
                <a:latin typeface="Söhne"/>
              </a:rPr>
              <a:t> 🌥️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I started about 2.5 years ago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Arrived from a need at current employer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New thing to learn!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endParaRPr lang="en-US" sz="4800" dirty="0"/>
          </a:p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 dirty="0"/>
              <a:t>What did I learn along the way?  Turns out, it’s a lot of fun!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400" dirty="0" err="1"/>
              <a:t>Preso</a:t>
            </a:r>
            <a:r>
              <a:rPr lang="en-US" sz="4400" dirty="0"/>
              <a:t> and code from tonight at </a:t>
            </a:r>
            <a:r>
              <a:rPr lang="en-US" sz="4400" dirty="0" err="1"/>
              <a:t>github.com</a:t>
            </a:r>
            <a:r>
              <a:rPr lang="en-US" sz="4400" dirty="0"/>
              <a:t>/</a:t>
            </a:r>
            <a:r>
              <a:rPr lang="en-US" sz="4400" dirty="0" err="1"/>
              <a:t>captainpacket</a:t>
            </a:r>
            <a:r>
              <a:rPr lang="en-US" sz="4400" dirty="0"/>
              <a:t>/</a:t>
            </a:r>
            <a:r>
              <a:rPr lang="en-US" sz="4400"/>
              <a:t>usnua</a:t>
            </a:r>
            <a:endParaRPr lang="en-US" sz="4400" dirty="0">
              <a:solidFill>
                <a:srgbClr val="D1D5DB"/>
              </a:solidFill>
              <a:latin typeface="Söhne"/>
            </a:endParaRP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endParaRPr lang="en-US" sz="48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FLNUG Slide Page.png" descr="FLNUG Slide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PAGE TITLE"/>
          <p:cNvSpPr txBox="1"/>
          <p:nvPr/>
        </p:nvSpPr>
        <p:spPr>
          <a:xfrm>
            <a:off x="6735788" y="105978"/>
            <a:ext cx="2273249" cy="58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3800">
                <a:solidFill>
                  <a:srgbClr val="570BAF"/>
                </a:solidFill>
              </a:defRPr>
            </a:lvl1pPr>
          </a:lstStyle>
          <a:p>
            <a:r>
              <a:t>PAGE TITLE</a:t>
            </a:r>
          </a:p>
        </p:txBody>
      </p:sp>
      <p:sp>
        <p:nvSpPr>
          <p:cNvPr id="120" name="Presented By:"/>
          <p:cNvSpPr txBox="1"/>
          <p:nvPr/>
        </p:nvSpPr>
        <p:spPr>
          <a:xfrm>
            <a:off x="141798" y="4779965"/>
            <a:ext cx="963157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DDDDDD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Presented By:</a:t>
            </a:r>
          </a:p>
        </p:txBody>
      </p:sp>
      <p:pic>
        <p:nvPicPr>
          <p:cNvPr id="121" name="usnua-logo-white.png" descr="usnua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36" y="5051349"/>
            <a:ext cx="1553542" cy="526225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Google Shape;80;p15">
            <a:extLst>
              <a:ext uri="{FF2B5EF4-FFF2-40B4-BE49-F238E27FC236}">
                <a16:creationId xmlns:a16="http://schemas.microsoft.com/office/drawing/2014/main" id="{039C8203-CCAF-E7C3-A337-9E01F7B5B5B4}"/>
              </a:ext>
            </a:extLst>
          </p:cNvPr>
          <p:cNvSpPr txBox="1">
            <a:spLocks/>
          </p:cNvSpPr>
          <p:nvPr/>
        </p:nvSpPr>
        <p:spPr>
          <a:xfrm>
            <a:off x="364504" y="779228"/>
            <a:ext cx="7772401" cy="3703527"/>
          </a:xfrm>
          <a:prstGeom prst="rect">
            <a:avLst/>
          </a:prstGeom>
        </p:spPr>
        <p:txBody>
          <a:bodyPr spcFirstLastPara="1" wrap="square" lIns="45700" tIns="45700" rIns="45700" bIns="45700" anchor="b" anchorCtr="0">
            <a:normAutofit fontScale="40000" lnSpcReduction="20000"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/>
              <a:t>Learn by Doing 📚 – get started tonight!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/>
              <a:t>The best way to learn cloud engineering is by doing hands-on exercises and projects.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/>
              <a:t>Focus on just the networking pieces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endParaRPr lang="en-US" sz="4800"/>
          </a:p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/>
              <a:t>Cloud Training Options 🌥️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/>
              <a:t>Good for the basics, things change too fast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/>
              <a:t>A Cloud Guru and Udemy courses are good if you need video content – not really my style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endParaRPr lang="en-US" sz="4800"/>
          </a:p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/>
              <a:t>Next up – what does the cloud look like?  How is it similar to on prem?</a:t>
            </a:r>
            <a:endParaRPr lang="en-US" sz="4400">
              <a:solidFill>
                <a:srgbClr val="D1D5DB"/>
              </a:solidFill>
              <a:latin typeface="Söhne"/>
            </a:endParaRP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3733418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FLNUG Slide Page.png" descr="FLNUG Slide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PAGE TITLE"/>
          <p:cNvSpPr txBox="1"/>
          <p:nvPr/>
        </p:nvSpPr>
        <p:spPr>
          <a:xfrm>
            <a:off x="6735788" y="105978"/>
            <a:ext cx="2273249" cy="58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3800">
                <a:solidFill>
                  <a:srgbClr val="570BAF"/>
                </a:solidFill>
              </a:defRPr>
            </a:lvl1pPr>
          </a:lstStyle>
          <a:p>
            <a:r>
              <a:t>PAGE TITLE</a:t>
            </a:r>
          </a:p>
        </p:txBody>
      </p:sp>
      <p:sp>
        <p:nvSpPr>
          <p:cNvPr id="120" name="Presented By:"/>
          <p:cNvSpPr txBox="1"/>
          <p:nvPr/>
        </p:nvSpPr>
        <p:spPr>
          <a:xfrm>
            <a:off x="141798" y="4779965"/>
            <a:ext cx="963157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DDDDDD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Presented By:</a:t>
            </a:r>
          </a:p>
        </p:txBody>
      </p:sp>
      <p:pic>
        <p:nvPicPr>
          <p:cNvPr id="121" name="usnua-logo-white.png" descr="usnua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36" y="5051349"/>
            <a:ext cx="1553542" cy="5262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73A03C2-4C00-A3BF-0B8F-C0AC7E374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6180" y="2811806"/>
            <a:ext cx="692879" cy="6928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EF7DDC-2463-D2FA-7597-ECDEE487E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7564" y="3640987"/>
            <a:ext cx="692880" cy="6928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EC864F-EF18-24EA-43DD-BCF366319F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8803" y="3630813"/>
            <a:ext cx="692880" cy="692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597B80-6036-93B2-AE3D-08937DF65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5086" y="2776280"/>
            <a:ext cx="692879" cy="6928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01EBE4-1779-BEA5-29FA-65355BBD7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964" y="3679608"/>
            <a:ext cx="692880" cy="6928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1F4B50-1877-3CBD-B89F-75ED373E01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5964" y="3679608"/>
            <a:ext cx="692880" cy="6928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BC2D9F-29A8-000F-1E3E-69F2022639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4071" y="1971549"/>
            <a:ext cx="698905" cy="6928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7B32FF-7AFA-39BF-2C31-AE9AC665F4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4071" y="632770"/>
            <a:ext cx="705253" cy="6928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05B118-1AC9-0919-4530-7785FC5B7F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7907" y="618612"/>
            <a:ext cx="705365" cy="6928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0D6F1F-8830-BC21-9447-6131870F7D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5354" y="632883"/>
            <a:ext cx="711440" cy="6928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34982D6-3278-ACE1-E883-666C7958C0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2206" y="2054585"/>
            <a:ext cx="698905" cy="69288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2CB63D-F9A2-48F2-9301-C5DFEE73A925}"/>
              </a:ext>
            </a:extLst>
          </p:cNvPr>
          <p:cNvCxnSpPr>
            <a:stCxn id="3" idx="0"/>
            <a:endCxn id="2" idx="2"/>
          </p:cNvCxnSpPr>
          <p:nvPr/>
        </p:nvCxnSpPr>
        <p:spPr>
          <a:xfrm flipV="1">
            <a:off x="1684004" y="3504685"/>
            <a:ext cx="638616" cy="13630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F03B5C-1B6D-08AD-D851-F7220502A89F}"/>
              </a:ext>
            </a:extLst>
          </p:cNvPr>
          <p:cNvCxnSpPr>
            <a:cxnSpLocks/>
            <a:stCxn id="4" idx="0"/>
            <a:endCxn id="2" idx="2"/>
          </p:cNvCxnSpPr>
          <p:nvPr/>
        </p:nvCxnSpPr>
        <p:spPr>
          <a:xfrm flipH="1" flipV="1">
            <a:off x="2322620" y="3504685"/>
            <a:ext cx="652623" cy="12612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E9DC39-BC9C-B4F8-BCB5-847599F5D1A5}"/>
              </a:ext>
            </a:extLst>
          </p:cNvPr>
          <p:cNvCxnSpPr>
            <a:cxnSpLocks/>
            <a:stCxn id="2" idx="0"/>
            <a:endCxn id="8" idx="1"/>
          </p:cNvCxnSpPr>
          <p:nvPr/>
        </p:nvCxnSpPr>
        <p:spPr>
          <a:xfrm flipV="1">
            <a:off x="2322620" y="2317989"/>
            <a:ext cx="1451451" cy="4938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07E2E11-0F73-350F-E911-625AFA77DB19}"/>
              </a:ext>
            </a:extLst>
          </p:cNvPr>
          <p:cNvCxnSpPr>
            <a:cxnSpLocks/>
            <a:stCxn id="8" idx="3"/>
            <a:endCxn id="5" idx="0"/>
          </p:cNvCxnSpPr>
          <p:nvPr/>
        </p:nvCxnSpPr>
        <p:spPr>
          <a:xfrm>
            <a:off x="4472975" y="2317989"/>
            <a:ext cx="1448550" cy="45829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AC0F628-4AE2-C773-DDFC-BE7521B8F755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5124404" y="3469159"/>
            <a:ext cx="797122" cy="21044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A3B6B72-43CD-5FB0-CF8A-2A48B5D2BF03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H="1" flipV="1">
            <a:off x="5921526" y="3469159"/>
            <a:ext cx="570878" cy="21044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C7FFA6-6E8A-C8F1-4E7A-EEA58EEDF909}"/>
              </a:ext>
            </a:extLst>
          </p:cNvPr>
          <p:cNvCxnSpPr>
            <a:cxnSpLocks/>
            <a:stCxn id="8" idx="0"/>
            <a:endCxn id="9" idx="2"/>
          </p:cNvCxnSpPr>
          <p:nvPr/>
        </p:nvCxnSpPr>
        <p:spPr>
          <a:xfrm flipV="1">
            <a:off x="4123523" y="1325650"/>
            <a:ext cx="3174" cy="64589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85C5D8-BF0D-AF07-403B-A6CFF54F1506}"/>
              </a:ext>
            </a:extLst>
          </p:cNvPr>
          <p:cNvCxnSpPr>
            <a:cxnSpLocks/>
            <a:stCxn id="8" idx="0"/>
            <a:endCxn id="10" idx="2"/>
          </p:cNvCxnSpPr>
          <p:nvPr/>
        </p:nvCxnSpPr>
        <p:spPr>
          <a:xfrm flipH="1" flipV="1">
            <a:off x="2740589" y="1311493"/>
            <a:ext cx="1382934" cy="66005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0B98D47-09F6-C95F-469B-9E0F9414E026}"/>
              </a:ext>
            </a:extLst>
          </p:cNvPr>
          <p:cNvCxnSpPr>
            <a:cxnSpLocks/>
            <a:stCxn id="11" idx="1"/>
            <a:endCxn id="9" idx="3"/>
          </p:cNvCxnSpPr>
          <p:nvPr/>
        </p:nvCxnSpPr>
        <p:spPr>
          <a:xfrm flipH="1" flipV="1">
            <a:off x="4479324" y="979210"/>
            <a:ext cx="866030" cy="11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941BBE1-E43A-2B98-A97B-1ACD80D372DC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701074" y="286442"/>
            <a:ext cx="1" cy="346441"/>
          </a:xfrm>
          <a:prstGeom prst="line">
            <a:avLst/>
          </a:prstGeom>
          <a:ln w="25400"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C5EE9A-E256-8A4E-392B-83B7784B51DA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4123523" y="262292"/>
            <a:ext cx="3175" cy="370478"/>
          </a:xfrm>
          <a:prstGeom prst="line">
            <a:avLst/>
          </a:prstGeom>
          <a:ln w="25400"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4D5CB33-A205-717D-BD4A-492046E46B8B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2740589" y="248134"/>
            <a:ext cx="0" cy="370478"/>
          </a:xfrm>
          <a:prstGeom prst="line">
            <a:avLst/>
          </a:prstGeom>
          <a:ln w="25400"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655357F-50CD-8F23-103A-E90718B700A9}"/>
              </a:ext>
            </a:extLst>
          </p:cNvPr>
          <p:cNvSpPr txBox="1"/>
          <p:nvPr/>
        </p:nvSpPr>
        <p:spPr>
          <a:xfrm>
            <a:off x="2288085" y="2943"/>
            <a:ext cx="8290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To internet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914857-6F86-353B-580D-293261FEBF3C}"/>
              </a:ext>
            </a:extLst>
          </p:cNvPr>
          <p:cNvSpPr txBox="1"/>
          <p:nvPr/>
        </p:nvSpPr>
        <p:spPr>
          <a:xfrm>
            <a:off x="3510599" y="44051"/>
            <a:ext cx="11961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To on-prem VPN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E0E421-2A2B-8306-9B90-96F5BC21C3DC}"/>
              </a:ext>
            </a:extLst>
          </p:cNvPr>
          <p:cNvSpPr txBox="1"/>
          <p:nvPr/>
        </p:nvSpPr>
        <p:spPr>
          <a:xfrm>
            <a:off x="5194664" y="-2511"/>
            <a:ext cx="116089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To on-prem via</a:t>
            </a:r>
          </a:p>
          <a:p>
            <a:r>
              <a:rPr lang="en-US" sz="1050" dirty="0"/>
              <a:t>dedicated circuit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194AE64-34BE-D0FB-4C7F-6096E5FDAA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637" y="2307266"/>
            <a:ext cx="698906" cy="69293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3D92949-772D-97FD-0851-496ED270636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4003" y="3504685"/>
            <a:ext cx="692880" cy="69288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83DF026-0105-5286-BD50-D8391F7E501B}"/>
              </a:ext>
            </a:extLst>
          </p:cNvPr>
          <p:cNvCxnSpPr>
            <a:cxnSpLocks/>
            <a:stCxn id="3" idx="1"/>
            <a:endCxn id="28" idx="3"/>
          </p:cNvCxnSpPr>
          <p:nvPr/>
        </p:nvCxnSpPr>
        <p:spPr>
          <a:xfrm flipH="1" flipV="1">
            <a:off x="834543" y="2653732"/>
            <a:ext cx="503021" cy="133369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E44CE70-20D3-44FE-D241-BD4382360EEC}"/>
              </a:ext>
            </a:extLst>
          </p:cNvPr>
          <p:cNvCxnSpPr>
            <a:cxnSpLocks/>
            <a:stCxn id="3" idx="1"/>
            <a:endCxn id="29" idx="3"/>
          </p:cNvCxnSpPr>
          <p:nvPr/>
        </p:nvCxnSpPr>
        <p:spPr>
          <a:xfrm flipH="1" flipV="1">
            <a:off x="886883" y="3851125"/>
            <a:ext cx="450681" cy="13630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E753D1-240E-ADAC-0B73-78AF89E6DCF9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4472976" y="2317989"/>
            <a:ext cx="2739230" cy="830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02AE28C-E772-9B1C-B518-4B829C7626E3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472976" y="1971548"/>
            <a:ext cx="698905" cy="346440"/>
          </a:xfrm>
          <a:prstGeom prst="line">
            <a:avLst/>
          </a:prstGeom>
          <a:ln w="25400"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95E6ED8-05F7-190A-9D08-DF761CAEBE40}"/>
              </a:ext>
            </a:extLst>
          </p:cNvPr>
          <p:cNvSpPr txBox="1"/>
          <p:nvPr/>
        </p:nvSpPr>
        <p:spPr>
          <a:xfrm>
            <a:off x="5085804" y="1740211"/>
            <a:ext cx="102303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VPC-peering:</a:t>
            </a:r>
          </a:p>
          <a:p>
            <a:r>
              <a:rPr lang="en-US" sz="1050" dirty="0"/>
              <a:t>to other VPCs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7F2C06E-F70F-5E0D-245D-DF092700C505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7561658" y="1408686"/>
            <a:ext cx="1" cy="645899"/>
          </a:xfrm>
          <a:prstGeom prst="line">
            <a:avLst/>
          </a:prstGeom>
          <a:ln w="25400"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EB89F33-782C-8E12-3600-0EECDC89C0F5}"/>
              </a:ext>
            </a:extLst>
          </p:cNvPr>
          <p:cNvSpPr txBox="1"/>
          <p:nvPr/>
        </p:nvSpPr>
        <p:spPr>
          <a:xfrm>
            <a:off x="7032835" y="1051448"/>
            <a:ext cx="11961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To on-prem VPN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949D6DF-A113-0213-8E00-C6AC3A67E90C}"/>
              </a:ext>
            </a:extLst>
          </p:cNvPr>
          <p:cNvCxnSpPr>
            <a:cxnSpLocks/>
            <a:stCxn id="12" idx="1"/>
            <a:endCxn id="11" idx="2"/>
          </p:cNvCxnSpPr>
          <p:nvPr/>
        </p:nvCxnSpPr>
        <p:spPr>
          <a:xfrm flipH="1" flipV="1">
            <a:off x="5701074" y="1325763"/>
            <a:ext cx="1511132" cy="10752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3D9075A-FB04-2502-5AC5-89716E104F2A}"/>
              </a:ext>
            </a:extLst>
          </p:cNvPr>
          <p:cNvCxnSpPr>
            <a:cxnSpLocks/>
            <a:endCxn id="12" idx="3"/>
          </p:cNvCxnSpPr>
          <p:nvPr/>
        </p:nvCxnSpPr>
        <p:spPr>
          <a:xfrm flipH="1">
            <a:off x="7911110" y="2401024"/>
            <a:ext cx="558281" cy="1"/>
          </a:xfrm>
          <a:prstGeom prst="line">
            <a:avLst/>
          </a:prstGeom>
          <a:ln w="25400"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9518ED8-AD12-6305-0515-F95509111B97}"/>
              </a:ext>
            </a:extLst>
          </p:cNvPr>
          <p:cNvSpPr txBox="1"/>
          <p:nvPr/>
        </p:nvSpPr>
        <p:spPr>
          <a:xfrm>
            <a:off x="7935678" y="2084791"/>
            <a:ext cx="10358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To other TGW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A71B11-3220-2A86-3AF1-C07BA1E275E8}"/>
              </a:ext>
            </a:extLst>
          </p:cNvPr>
          <p:cNvSpPr txBox="1"/>
          <p:nvPr/>
        </p:nvSpPr>
        <p:spPr>
          <a:xfrm>
            <a:off x="254097" y="692019"/>
            <a:ext cx="4619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VPC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B2934FB-6D64-29F0-D9F1-7F91464A9A07}"/>
              </a:ext>
            </a:extLst>
          </p:cNvPr>
          <p:cNvCxnSpPr>
            <a:cxnSpLocks/>
            <a:endCxn id="12" idx="2"/>
          </p:cNvCxnSpPr>
          <p:nvPr/>
        </p:nvCxnSpPr>
        <p:spPr>
          <a:xfrm flipH="1" flipV="1">
            <a:off x="7561658" y="2747465"/>
            <a:ext cx="1037840" cy="645785"/>
          </a:xfrm>
          <a:prstGeom prst="line">
            <a:avLst/>
          </a:prstGeom>
          <a:ln w="25400">
            <a:head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7B117CD-D8B7-9FC1-394A-31AFBC7ED71D}"/>
              </a:ext>
            </a:extLst>
          </p:cNvPr>
          <p:cNvSpPr txBox="1"/>
          <p:nvPr/>
        </p:nvSpPr>
        <p:spPr>
          <a:xfrm>
            <a:off x="7781330" y="3434367"/>
            <a:ext cx="106792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To other VPCs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3B4BB035-CAE1-D937-E455-18074EC11C26}"/>
              </a:ext>
            </a:extLst>
          </p:cNvPr>
          <p:cNvSpPr/>
          <p:nvPr/>
        </p:nvSpPr>
        <p:spPr>
          <a:xfrm>
            <a:off x="111211" y="593125"/>
            <a:ext cx="6848732" cy="4290884"/>
          </a:xfrm>
          <a:custGeom>
            <a:avLst/>
            <a:gdLst>
              <a:gd name="connsiteX0" fmla="*/ 9082216 w 9131643"/>
              <a:gd name="connsiteY0" fmla="*/ 2570206 h 5721179"/>
              <a:gd name="connsiteX1" fmla="*/ 9131643 w 9131643"/>
              <a:gd name="connsiteY1" fmla="*/ 5721179 h 5721179"/>
              <a:gd name="connsiteX2" fmla="*/ 0 w 9131643"/>
              <a:gd name="connsiteY2" fmla="*/ 5721179 h 5721179"/>
              <a:gd name="connsiteX3" fmla="*/ 0 w 9131643"/>
              <a:gd name="connsiteY3" fmla="*/ 0 h 5721179"/>
              <a:gd name="connsiteX4" fmla="*/ 6079524 w 9131643"/>
              <a:gd name="connsiteY4" fmla="*/ 0 h 5721179"/>
              <a:gd name="connsiteX5" fmla="*/ 9082216 w 9131643"/>
              <a:gd name="connsiteY5" fmla="*/ 2570206 h 5721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31643" h="5721179">
                <a:moveTo>
                  <a:pt x="9082216" y="2570206"/>
                </a:moveTo>
                <a:lnTo>
                  <a:pt x="9131643" y="5721179"/>
                </a:lnTo>
                <a:lnTo>
                  <a:pt x="0" y="5721179"/>
                </a:lnTo>
                <a:lnTo>
                  <a:pt x="0" y="0"/>
                </a:lnTo>
                <a:lnTo>
                  <a:pt x="6079524" y="0"/>
                </a:lnTo>
                <a:lnTo>
                  <a:pt x="9082216" y="2570206"/>
                </a:lnTo>
                <a:close/>
              </a:path>
            </a:pathLst>
          </a:cu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038F29-75FC-BB01-FACE-E01CCE7C5906}"/>
              </a:ext>
            </a:extLst>
          </p:cNvPr>
          <p:cNvSpPr txBox="1"/>
          <p:nvPr/>
        </p:nvSpPr>
        <p:spPr>
          <a:xfrm>
            <a:off x="2991817" y="3387071"/>
            <a:ext cx="108395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Security Group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AD2A4A-B043-7E38-A821-05F88242C54C}"/>
              </a:ext>
            </a:extLst>
          </p:cNvPr>
          <p:cNvSpPr txBox="1"/>
          <p:nvPr/>
        </p:nvSpPr>
        <p:spPr>
          <a:xfrm>
            <a:off x="1248391" y="2204060"/>
            <a:ext cx="97975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Network ACL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E91B454-001F-7FE7-95DB-EF533CC56432}"/>
              </a:ext>
            </a:extLst>
          </p:cNvPr>
          <p:cNvCxnSpPr>
            <a:stCxn id="44" idx="2"/>
          </p:cNvCxnSpPr>
          <p:nvPr/>
        </p:nvCxnSpPr>
        <p:spPr>
          <a:xfrm flipH="1">
            <a:off x="2941780" y="3640987"/>
            <a:ext cx="592013" cy="20441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05DB89C-0904-5CB4-ED71-F67110727091}"/>
              </a:ext>
            </a:extLst>
          </p:cNvPr>
          <p:cNvCxnSpPr>
            <a:cxnSpLocks/>
            <a:stCxn id="45" idx="2"/>
            <a:endCxn id="2" idx="0"/>
          </p:cNvCxnSpPr>
          <p:nvPr/>
        </p:nvCxnSpPr>
        <p:spPr>
          <a:xfrm>
            <a:off x="1738269" y="2457976"/>
            <a:ext cx="584351" cy="35383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1630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34" grpId="0"/>
      <p:bldP spid="36" grpId="0"/>
      <p:bldP spid="39" grpId="0"/>
      <p:bldP spid="40" grpId="0"/>
      <p:bldP spid="42" grpId="0"/>
      <p:bldP spid="43" grpId="0" animBg="1"/>
      <p:bldP spid="44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FLNUG Slide Page.png" descr="FLNUG Slide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PAGE TITLE"/>
          <p:cNvSpPr txBox="1"/>
          <p:nvPr/>
        </p:nvSpPr>
        <p:spPr>
          <a:xfrm>
            <a:off x="6735788" y="105978"/>
            <a:ext cx="2273249" cy="58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3800">
                <a:solidFill>
                  <a:srgbClr val="570BAF"/>
                </a:solidFill>
              </a:defRPr>
            </a:lvl1pPr>
          </a:lstStyle>
          <a:p>
            <a:r>
              <a:t>PAGE TITLE</a:t>
            </a:r>
          </a:p>
        </p:txBody>
      </p:sp>
      <p:sp>
        <p:nvSpPr>
          <p:cNvPr id="120" name="Presented By:"/>
          <p:cNvSpPr txBox="1"/>
          <p:nvPr/>
        </p:nvSpPr>
        <p:spPr>
          <a:xfrm>
            <a:off x="141798" y="4779965"/>
            <a:ext cx="963157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DDDDDD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Presented By:</a:t>
            </a:r>
          </a:p>
        </p:txBody>
      </p:sp>
      <p:pic>
        <p:nvPicPr>
          <p:cNvPr id="121" name="usnua-logo-white.png" descr="usnua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36" y="5051349"/>
            <a:ext cx="1553542" cy="526225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Google Shape;80;p15">
            <a:extLst>
              <a:ext uri="{FF2B5EF4-FFF2-40B4-BE49-F238E27FC236}">
                <a16:creationId xmlns:a16="http://schemas.microsoft.com/office/drawing/2014/main" id="{6A6F4418-5E3E-E650-F304-016D305F07F2}"/>
              </a:ext>
            </a:extLst>
          </p:cNvPr>
          <p:cNvSpPr txBox="1">
            <a:spLocks/>
          </p:cNvSpPr>
          <p:nvPr/>
        </p:nvSpPr>
        <p:spPr>
          <a:xfrm>
            <a:off x="374136" y="1393275"/>
            <a:ext cx="7772401" cy="3520648"/>
          </a:xfrm>
          <a:prstGeom prst="rect">
            <a:avLst/>
          </a:prstGeom>
        </p:spPr>
        <p:txBody>
          <a:bodyPr spcFirstLastPara="1" wrap="square" lIns="45700" tIns="45700" rIns="45700" bIns="45700" anchor="b" anchorCtr="0">
            <a:normAutofit fontScale="25000" lnSpcReduction="20000"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685800" indent="-685800" hangingPunct="1">
              <a:buFont typeface="Arial" panose="020B0604020202020204" pitchFamily="34" charset="0"/>
              <a:buChar char="•"/>
            </a:pPr>
            <a:r>
              <a:rPr lang="en-US" sz="8000" b="1"/>
              <a:t>Don’t do what I just did!!!!!</a:t>
            </a:r>
          </a:p>
          <a:p>
            <a:pPr marL="685800" indent="-685800" hangingPunct="1">
              <a:buFont typeface="Arial" panose="020B0604020202020204" pitchFamily="34" charset="0"/>
              <a:buChar char="•"/>
            </a:pPr>
            <a:r>
              <a:rPr lang="en-US" sz="6000"/>
              <a:t>Don’t create resources with the cloud console!!!!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5600"/>
              <a:t>It creates bad habits that are REALLY hard to break</a:t>
            </a:r>
          </a:p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4800"/>
          </a:p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/>
              <a:t>Infrastructure as Code (IaC) - the key to cloud mastery! 🔑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/>
              <a:t>Define, provision, and manage infrastructure using code 📝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/>
              <a:t>Improve consistency, repeatability, and version control ⚙️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/>
              <a:t>Will save you money – only deploy when you need, destroy when you are finished🤝</a:t>
            </a:r>
          </a:p>
          <a:p>
            <a:pPr marL="457200" lvl="1" indent="0" hangingPunct="1"/>
            <a:endParaRPr lang="en-US" sz="4800"/>
          </a:p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/>
              <a:t>Terraform, CloudFormation, and more - pick your weapon! 💪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/>
              <a:t>Terraform - multi-cloud provisioning with HashiCorp's tool 🌐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/>
              <a:t>AWS CloudFormation - native AWS infrastructure automation 🌩️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/>
              <a:t>Azure Resource Manager (ARM) templates - Microsoft's IaC solution 🔷</a:t>
            </a:r>
          </a:p>
          <a:p>
            <a:pPr marL="457200" lvl="1" indent="0" hangingPunct="1"/>
            <a:endParaRPr lang="en-US" sz="4800"/>
          </a:p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/>
              <a:t>Automate, scale, and adapt with IaC - the cloud's secret sauce 🚀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/>
              <a:t>Easily scale up or down to meet changing demands 📈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/>
              <a:t>Adapt to new cloud technologies and services effortlessly 🌠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/>
              <a:t>Already have a cloud?  Use </a:t>
            </a:r>
            <a:r>
              <a:rPr lang="en-US" sz="4800">
                <a:hlinkClick r:id="rId4"/>
              </a:rPr>
              <a:t>https://github.com/GoogleCloudPlatform/terraformer</a:t>
            </a:r>
            <a:r>
              <a:rPr lang="en-US" sz="4800"/>
              <a:t> to turn into Terraform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1298997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FLNUG Slide Page.png" descr="FLNUG Slide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PAGE TITLE"/>
          <p:cNvSpPr txBox="1"/>
          <p:nvPr/>
        </p:nvSpPr>
        <p:spPr>
          <a:xfrm>
            <a:off x="3775875" y="105978"/>
            <a:ext cx="52331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3800">
                <a:solidFill>
                  <a:srgbClr val="570BAF"/>
                </a:solidFill>
              </a:defRPr>
            </a:lvl1pPr>
          </a:lstStyle>
          <a:p>
            <a:r>
              <a:rPr lang="en-US" sz="2400" dirty="0" err="1"/>
              <a:t>IaC</a:t>
            </a:r>
            <a:r>
              <a:rPr lang="en-US" sz="2400" dirty="0"/>
              <a:t> - Your Cloud Engineering Superpower</a:t>
            </a:r>
            <a:endParaRPr sz="2400" dirty="0"/>
          </a:p>
        </p:txBody>
      </p:sp>
      <p:sp>
        <p:nvSpPr>
          <p:cNvPr id="120" name="Presented By:"/>
          <p:cNvSpPr txBox="1"/>
          <p:nvPr/>
        </p:nvSpPr>
        <p:spPr>
          <a:xfrm>
            <a:off x="141798" y="4779965"/>
            <a:ext cx="963157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DDDDDD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Presented By:</a:t>
            </a:r>
          </a:p>
        </p:txBody>
      </p:sp>
      <p:pic>
        <p:nvPicPr>
          <p:cNvPr id="121" name="usnua-logo-white.png" descr="usnua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36" y="5051349"/>
            <a:ext cx="1553542" cy="526225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Google Shape;80;p15">
            <a:extLst>
              <a:ext uri="{FF2B5EF4-FFF2-40B4-BE49-F238E27FC236}">
                <a16:creationId xmlns:a16="http://schemas.microsoft.com/office/drawing/2014/main" id="{6A6F4418-5E3E-E650-F304-016D305F07F2}"/>
              </a:ext>
            </a:extLst>
          </p:cNvPr>
          <p:cNvSpPr txBox="1">
            <a:spLocks/>
          </p:cNvSpPr>
          <p:nvPr/>
        </p:nvSpPr>
        <p:spPr>
          <a:xfrm>
            <a:off x="374136" y="1393275"/>
            <a:ext cx="7772401" cy="3520648"/>
          </a:xfrm>
          <a:prstGeom prst="rect">
            <a:avLst/>
          </a:prstGeom>
        </p:spPr>
        <p:txBody>
          <a:bodyPr spcFirstLastPara="1" wrap="square" lIns="45700" tIns="45700" rIns="45700" bIns="45700" anchor="b" anchorCtr="0">
            <a:normAutofit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685800" indent="-685800" hangingPunct="1">
              <a:buFont typeface="Arial" panose="020B0604020202020204" pitchFamily="34" charset="0"/>
              <a:buChar char="•"/>
            </a:pPr>
            <a:endParaRPr lang="en-US" sz="4800" dirty="0"/>
          </a:p>
        </p:txBody>
      </p:sp>
      <p:sp>
        <p:nvSpPr>
          <p:cNvPr id="2" name="Google Shape;80;p15">
            <a:extLst>
              <a:ext uri="{FF2B5EF4-FFF2-40B4-BE49-F238E27FC236}">
                <a16:creationId xmlns:a16="http://schemas.microsoft.com/office/drawing/2014/main" id="{8CBE7050-8FF5-67C7-DE6F-488C2B6F9522}"/>
              </a:ext>
            </a:extLst>
          </p:cNvPr>
          <p:cNvSpPr txBox="1">
            <a:spLocks/>
          </p:cNvSpPr>
          <p:nvPr/>
        </p:nvSpPr>
        <p:spPr>
          <a:xfrm>
            <a:off x="356552" y="636105"/>
            <a:ext cx="7772401" cy="3703527"/>
          </a:xfrm>
          <a:prstGeom prst="rect">
            <a:avLst/>
          </a:prstGeom>
        </p:spPr>
        <p:txBody>
          <a:bodyPr spcFirstLastPara="1" wrap="square" lIns="45700" tIns="45700" rIns="45700" bIns="45700" anchor="b" anchorCtr="0">
            <a:normAutofit fontScale="25000" lnSpcReduction="20000"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 dirty="0"/>
              <a:t>Infrastructure as Code (</a:t>
            </a:r>
            <a:r>
              <a:rPr lang="en-US" sz="4800" dirty="0" err="1"/>
              <a:t>IaC</a:t>
            </a:r>
            <a:r>
              <a:rPr lang="en-US" sz="4800" dirty="0"/>
              <a:t>) - the key to cloud mastery! 🔑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Define, provision, and manage infrastructure using code 📝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Improve consistency, repeatability, and version control ⚙️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Enhance collaboration across teams and reduce manual errors 🤝</a:t>
            </a:r>
          </a:p>
          <a:p>
            <a:pPr marL="457200" lvl="1" indent="0" hangingPunct="1"/>
            <a:endParaRPr lang="en-US" sz="4800" dirty="0"/>
          </a:p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 dirty="0"/>
              <a:t>Terraform, CloudFormation, and more - pick your weapon! 💪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Terraform - multi-cloud provisioning with </a:t>
            </a:r>
            <a:r>
              <a:rPr lang="en-US" sz="4800" dirty="0" err="1"/>
              <a:t>HashiCorp's</a:t>
            </a:r>
            <a:r>
              <a:rPr lang="en-US" sz="4800" dirty="0"/>
              <a:t> tool 🌐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AWS CloudFormation - native AWS infrastructure automation 🌩️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Azure Resource Manager (ARM) templates - Microsoft's </a:t>
            </a:r>
            <a:r>
              <a:rPr lang="en-US" sz="4800" dirty="0" err="1"/>
              <a:t>IaC</a:t>
            </a:r>
            <a:r>
              <a:rPr lang="en-US" sz="4800" dirty="0"/>
              <a:t> solution 🔷</a:t>
            </a:r>
          </a:p>
          <a:p>
            <a:pPr marL="457200" lvl="1" indent="0" hangingPunct="1"/>
            <a:endParaRPr lang="en-US" sz="4800" dirty="0"/>
          </a:p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 dirty="0"/>
              <a:t>Automate, scale, and adapt with </a:t>
            </a:r>
            <a:r>
              <a:rPr lang="en-US" sz="4800" dirty="0" err="1"/>
              <a:t>IaC</a:t>
            </a:r>
            <a:r>
              <a:rPr lang="en-US" sz="4800" dirty="0"/>
              <a:t> - the cloud's secret sauce 🚀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Accelerate deployments with automated provisioning 🏎️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Easily scale up or down to meet changing demands 📈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Adapt to new cloud technologies and services effortlessly 🌠</a:t>
            </a:r>
          </a:p>
        </p:txBody>
      </p:sp>
    </p:spTree>
    <p:extLst>
      <p:ext uri="{BB962C8B-B14F-4D97-AF65-F5344CB8AC3E}">
        <p14:creationId xmlns:p14="http://schemas.microsoft.com/office/powerpoint/2010/main" val="19797279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uild="p"/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FLNUG Slide Page.png" descr="FLNUG Slide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PAGE TITLE"/>
          <p:cNvSpPr txBox="1"/>
          <p:nvPr/>
        </p:nvSpPr>
        <p:spPr>
          <a:xfrm>
            <a:off x="4596614" y="105978"/>
            <a:ext cx="4412423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3800">
                <a:solidFill>
                  <a:srgbClr val="570BAF"/>
                </a:solidFill>
              </a:defRPr>
            </a:lvl1pPr>
          </a:lstStyle>
          <a:p>
            <a:r>
              <a:rPr lang="en-US" sz="2400" dirty="0" err="1"/>
              <a:t>IaC</a:t>
            </a:r>
            <a:r>
              <a:rPr lang="en-US" sz="2400" dirty="0"/>
              <a:t> vs. Configuration Management</a:t>
            </a:r>
            <a:endParaRPr sz="2400" dirty="0"/>
          </a:p>
        </p:txBody>
      </p:sp>
      <p:sp>
        <p:nvSpPr>
          <p:cNvPr id="120" name="Presented By:"/>
          <p:cNvSpPr txBox="1"/>
          <p:nvPr/>
        </p:nvSpPr>
        <p:spPr>
          <a:xfrm>
            <a:off x="141798" y="4779965"/>
            <a:ext cx="963157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DDDDDD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Presented By:</a:t>
            </a:r>
          </a:p>
        </p:txBody>
      </p:sp>
      <p:pic>
        <p:nvPicPr>
          <p:cNvPr id="121" name="usnua-logo-white.png" descr="usnua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36" y="5051349"/>
            <a:ext cx="1553542" cy="526225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Google Shape;80;p15">
            <a:extLst>
              <a:ext uri="{FF2B5EF4-FFF2-40B4-BE49-F238E27FC236}">
                <a16:creationId xmlns:a16="http://schemas.microsoft.com/office/drawing/2014/main" id="{6A6F4418-5E3E-E650-F304-016D305F07F2}"/>
              </a:ext>
            </a:extLst>
          </p:cNvPr>
          <p:cNvSpPr txBox="1">
            <a:spLocks/>
          </p:cNvSpPr>
          <p:nvPr/>
        </p:nvSpPr>
        <p:spPr>
          <a:xfrm>
            <a:off x="374136" y="1393275"/>
            <a:ext cx="7772401" cy="3520648"/>
          </a:xfrm>
          <a:prstGeom prst="rect">
            <a:avLst/>
          </a:prstGeom>
        </p:spPr>
        <p:txBody>
          <a:bodyPr spcFirstLastPara="1" wrap="square" lIns="45700" tIns="45700" rIns="45700" bIns="45700" anchor="b" anchorCtr="0">
            <a:normAutofit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685800" indent="-685800" hangingPunct="1">
              <a:buFont typeface="Arial" panose="020B0604020202020204" pitchFamily="34" charset="0"/>
              <a:buChar char="•"/>
            </a:pPr>
            <a:endParaRPr lang="en-US" sz="4800" dirty="0"/>
          </a:p>
        </p:txBody>
      </p:sp>
      <p:sp>
        <p:nvSpPr>
          <p:cNvPr id="2" name="Google Shape;80;p15">
            <a:extLst>
              <a:ext uri="{FF2B5EF4-FFF2-40B4-BE49-F238E27FC236}">
                <a16:creationId xmlns:a16="http://schemas.microsoft.com/office/drawing/2014/main" id="{8CBE7050-8FF5-67C7-DE6F-488C2B6F9522}"/>
              </a:ext>
            </a:extLst>
          </p:cNvPr>
          <p:cNvSpPr txBox="1">
            <a:spLocks/>
          </p:cNvSpPr>
          <p:nvPr/>
        </p:nvSpPr>
        <p:spPr>
          <a:xfrm>
            <a:off x="356552" y="636105"/>
            <a:ext cx="7772401" cy="3703527"/>
          </a:xfrm>
          <a:prstGeom prst="rect">
            <a:avLst/>
          </a:prstGeom>
        </p:spPr>
        <p:txBody>
          <a:bodyPr spcFirstLastPara="1" wrap="square" lIns="45700" tIns="45700" rIns="45700" bIns="45700" anchor="b" anchorCtr="0">
            <a:normAutofit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4800" dirty="0"/>
          </a:p>
        </p:txBody>
      </p:sp>
      <p:sp>
        <p:nvSpPr>
          <p:cNvPr id="6" name="Google Shape;80;p15">
            <a:extLst>
              <a:ext uri="{FF2B5EF4-FFF2-40B4-BE49-F238E27FC236}">
                <a16:creationId xmlns:a16="http://schemas.microsoft.com/office/drawing/2014/main" id="{95B0A73B-07E3-642A-BA36-54A7AEB21BD9}"/>
              </a:ext>
            </a:extLst>
          </p:cNvPr>
          <p:cNvSpPr txBox="1">
            <a:spLocks/>
          </p:cNvSpPr>
          <p:nvPr/>
        </p:nvSpPr>
        <p:spPr>
          <a:xfrm>
            <a:off x="464990" y="1035330"/>
            <a:ext cx="7772401" cy="3703527"/>
          </a:xfrm>
          <a:prstGeom prst="rect">
            <a:avLst/>
          </a:prstGeom>
        </p:spPr>
        <p:txBody>
          <a:bodyPr spcFirstLastPara="1" wrap="square" lIns="45700" tIns="45700" rIns="45700" bIns="45700" anchor="b" anchorCtr="0">
            <a:normAutofit fontScale="25000" lnSpcReduction="20000"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 dirty="0"/>
              <a:t>Infrastructure as Code (</a:t>
            </a:r>
            <a:r>
              <a:rPr lang="en-US" sz="4800" dirty="0" err="1"/>
              <a:t>IaC</a:t>
            </a:r>
            <a:r>
              <a:rPr lang="en-US" sz="4800" dirty="0"/>
              <a:t>) - Provisioning with Code 📝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 err="1"/>
              <a:t>IaC</a:t>
            </a:r>
            <a:r>
              <a:rPr lang="en-US" sz="4800" dirty="0"/>
              <a:t> tools like Terraform and CloudFormation are used to define and deploy infrastructure resources in a consistent, repeatable manner.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 err="1"/>
              <a:t>IaC</a:t>
            </a:r>
            <a:r>
              <a:rPr lang="en-US" sz="4800" dirty="0"/>
              <a:t> focuses on defining and provisioning the infrastructure layer of a cloud deployment, including servers, networks, and storage.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endParaRPr lang="en-US" sz="4800" dirty="0"/>
          </a:p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 dirty="0"/>
              <a:t>Configuration Management - Managing Software 🧰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Configuration management tools like Ansible and Chef are used to manage the software layer of a cloud deployment.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Configuration management focuses on maintaining and configuring the software running on top of the infrastructure layer, such as operating systems, applications, and middleware.</a:t>
            </a:r>
          </a:p>
          <a:p>
            <a:pPr marL="0" indent="0" hangingPunct="1">
              <a:spcBef>
                <a:spcPts val="400"/>
              </a:spcBef>
              <a:buFont typeface="Arial"/>
              <a:buNone/>
            </a:pPr>
            <a:endParaRPr lang="en-US" sz="4800" dirty="0"/>
          </a:p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 dirty="0"/>
              <a:t>Key Differences 🔑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 err="1"/>
              <a:t>IaC</a:t>
            </a:r>
            <a:r>
              <a:rPr lang="en-US" sz="4800" dirty="0"/>
              <a:t> is focused on defining infrastructure resources and deploying them in a repeatable, consistent manner.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Configuration management is focused on managing software and maintaining its configuration across multiple machines.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 err="1"/>
              <a:t>IaC</a:t>
            </a:r>
            <a:r>
              <a:rPr lang="en-US" sz="4800" dirty="0"/>
              <a:t> is used for infrastructure changes, while configuration management is used for software changes.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 err="1"/>
              <a:t>IaC</a:t>
            </a:r>
            <a:r>
              <a:rPr lang="en-US" sz="4800" dirty="0"/>
              <a:t> tools provision infrastructure from scratch, while configuration management tools configure and manage existing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9722340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uild="p"/>
      <p:bldP spid="2" grpId="0" build="p"/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FLNUG Slide Page.png" descr="FLNUG Slide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PAGE TITLE"/>
          <p:cNvSpPr txBox="1"/>
          <p:nvPr/>
        </p:nvSpPr>
        <p:spPr>
          <a:xfrm>
            <a:off x="7288055" y="105978"/>
            <a:ext cx="172098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3800">
                <a:solidFill>
                  <a:srgbClr val="570BAF"/>
                </a:solidFill>
              </a:defRPr>
            </a:lvl1pPr>
          </a:lstStyle>
          <a:p>
            <a:r>
              <a:rPr lang="en-US" sz="2400" dirty="0"/>
              <a:t>Get Building!</a:t>
            </a:r>
            <a:endParaRPr sz="2400" dirty="0"/>
          </a:p>
        </p:txBody>
      </p:sp>
      <p:sp>
        <p:nvSpPr>
          <p:cNvPr id="120" name="Presented By:"/>
          <p:cNvSpPr txBox="1"/>
          <p:nvPr/>
        </p:nvSpPr>
        <p:spPr>
          <a:xfrm>
            <a:off x="141798" y="4779965"/>
            <a:ext cx="963157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DDDDDD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t>Presented By:</a:t>
            </a:r>
          </a:p>
        </p:txBody>
      </p:sp>
      <p:pic>
        <p:nvPicPr>
          <p:cNvPr id="121" name="usnua-logo-white.png" descr="usnua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36" y="5051349"/>
            <a:ext cx="1553542" cy="526225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Google Shape;80;p15">
            <a:extLst>
              <a:ext uri="{FF2B5EF4-FFF2-40B4-BE49-F238E27FC236}">
                <a16:creationId xmlns:a16="http://schemas.microsoft.com/office/drawing/2014/main" id="{6A6F4418-5E3E-E650-F304-016D305F07F2}"/>
              </a:ext>
            </a:extLst>
          </p:cNvPr>
          <p:cNvSpPr txBox="1">
            <a:spLocks/>
          </p:cNvSpPr>
          <p:nvPr/>
        </p:nvSpPr>
        <p:spPr>
          <a:xfrm>
            <a:off x="374136" y="1393275"/>
            <a:ext cx="7772401" cy="3520648"/>
          </a:xfrm>
          <a:prstGeom prst="rect">
            <a:avLst/>
          </a:prstGeom>
        </p:spPr>
        <p:txBody>
          <a:bodyPr spcFirstLastPara="1" wrap="square" lIns="45700" tIns="45700" rIns="45700" bIns="45700" anchor="b" anchorCtr="0">
            <a:normAutofit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685800" indent="-685800" hangingPunct="1">
              <a:buFont typeface="Arial" panose="020B0604020202020204" pitchFamily="34" charset="0"/>
              <a:buChar char="•"/>
            </a:pPr>
            <a:endParaRPr lang="en-US" sz="4800" dirty="0"/>
          </a:p>
        </p:txBody>
      </p:sp>
      <p:sp>
        <p:nvSpPr>
          <p:cNvPr id="2" name="Google Shape;80;p15">
            <a:extLst>
              <a:ext uri="{FF2B5EF4-FFF2-40B4-BE49-F238E27FC236}">
                <a16:creationId xmlns:a16="http://schemas.microsoft.com/office/drawing/2014/main" id="{8CBE7050-8FF5-67C7-DE6F-488C2B6F9522}"/>
              </a:ext>
            </a:extLst>
          </p:cNvPr>
          <p:cNvSpPr txBox="1">
            <a:spLocks/>
          </p:cNvSpPr>
          <p:nvPr/>
        </p:nvSpPr>
        <p:spPr>
          <a:xfrm>
            <a:off x="356552" y="636105"/>
            <a:ext cx="7772401" cy="3703527"/>
          </a:xfrm>
          <a:prstGeom prst="rect">
            <a:avLst/>
          </a:prstGeom>
        </p:spPr>
        <p:txBody>
          <a:bodyPr spcFirstLastPara="1" wrap="square" lIns="45700" tIns="45700" rIns="45700" bIns="45700" anchor="b" anchorCtr="0">
            <a:normAutofit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4800" dirty="0"/>
          </a:p>
        </p:txBody>
      </p:sp>
      <p:sp>
        <p:nvSpPr>
          <p:cNvPr id="3" name="Google Shape;80;p15">
            <a:extLst>
              <a:ext uri="{FF2B5EF4-FFF2-40B4-BE49-F238E27FC236}">
                <a16:creationId xmlns:a16="http://schemas.microsoft.com/office/drawing/2014/main" id="{30AC28AE-99B0-ACCF-8F3C-6BC7BC6ECCAF}"/>
              </a:ext>
            </a:extLst>
          </p:cNvPr>
          <p:cNvSpPr txBox="1">
            <a:spLocks/>
          </p:cNvSpPr>
          <p:nvPr/>
        </p:nvSpPr>
        <p:spPr>
          <a:xfrm>
            <a:off x="588890" y="1203748"/>
            <a:ext cx="7772401" cy="4142631"/>
          </a:xfrm>
          <a:prstGeom prst="rect">
            <a:avLst/>
          </a:prstGeom>
        </p:spPr>
        <p:txBody>
          <a:bodyPr spcFirstLastPara="1" wrap="square" lIns="45700" tIns="45700" rIns="45700" bIns="45700" anchor="b" anchorCtr="0">
            <a:normAutofit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1143000" lvl="1" indent="-685800" hangingPunct="1">
              <a:buFont typeface="Arial" panose="020B0604020202020204" pitchFamily="34" charset="0"/>
              <a:buChar char="•"/>
            </a:pPr>
            <a:endParaRPr lang="en-US" sz="4800" dirty="0"/>
          </a:p>
        </p:txBody>
      </p:sp>
      <p:sp>
        <p:nvSpPr>
          <p:cNvPr id="4" name="Google Shape;80;p15">
            <a:extLst>
              <a:ext uri="{FF2B5EF4-FFF2-40B4-BE49-F238E27FC236}">
                <a16:creationId xmlns:a16="http://schemas.microsoft.com/office/drawing/2014/main" id="{E27DA8B9-4707-962E-C2E3-B732B1205EA5}"/>
              </a:ext>
            </a:extLst>
          </p:cNvPr>
          <p:cNvSpPr txBox="1">
            <a:spLocks/>
          </p:cNvSpPr>
          <p:nvPr/>
        </p:nvSpPr>
        <p:spPr>
          <a:xfrm>
            <a:off x="340649" y="921854"/>
            <a:ext cx="7772401" cy="3872286"/>
          </a:xfrm>
          <a:prstGeom prst="rect">
            <a:avLst/>
          </a:prstGeom>
        </p:spPr>
        <p:txBody>
          <a:bodyPr spcFirstLastPara="1" wrap="square" lIns="45700" tIns="45700" rIns="45700" bIns="45700" anchor="b" anchorCtr="0">
            <a:normAutofit fontScale="32500" lnSpcReduction="20000"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83771" marR="0" indent="-326571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37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945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661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23359" marR="0" indent="-365759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 dirty="0"/>
              <a:t>Setup free tiers on your cloud of choice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Using terraform/</a:t>
            </a:r>
            <a:r>
              <a:rPr lang="en-US" sz="4800" dirty="0" err="1"/>
              <a:t>IaC</a:t>
            </a:r>
            <a:r>
              <a:rPr lang="en-US" sz="4800" dirty="0"/>
              <a:t> will save you loads of money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But look at cost estimators if you start moving lots of traffic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endParaRPr lang="en-US" sz="4800" dirty="0"/>
          </a:p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 dirty="0"/>
              <a:t>Don’t be afraid to break anything 💻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Its all a “terraform destroy” away</a:t>
            </a:r>
          </a:p>
          <a:p>
            <a:pPr marL="457200" lvl="1" indent="0" hangingPunct="1"/>
            <a:endParaRPr lang="en-US" sz="4800" dirty="0"/>
          </a:p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 dirty="0" err="1"/>
              <a:t>ChatGPT</a:t>
            </a:r>
            <a:r>
              <a:rPr lang="en-US" sz="4800" dirty="0"/>
              <a:t> is your best friend with building scripts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Start small – ask for something simple (“Give me a terraform script to build a VPC”) and then build on to it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r>
              <a:rPr lang="en-US" sz="4800" dirty="0"/>
              <a:t>If it goes wrong, just paste the error message in</a:t>
            </a:r>
          </a:p>
          <a:p>
            <a:pPr marL="457200" lvl="1" indent="0" hangingPunct="1"/>
            <a:endParaRPr lang="en-US" sz="4800" dirty="0"/>
          </a:p>
          <a:p>
            <a:pPr marL="685800" indent="-685800" hangingPunct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4800" dirty="0"/>
              <a:t>Have fun!  Its always changing and very rewarding to learn.</a:t>
            </a:r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endParaRPr lang="en-US" sz="4800" dirty="0"/>
          </a:p>
          <a:p>
            <a:pPr marL="1143000" lvl="1" indent="-685800" hangingPunct="1">
              <a:buFont typeface="Arial" panose="020B0604020202020204" pitchFamily="34" charset="0"/>
              <a:buChar char="•"/>
            </a:pP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5974219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uild="p"/>
      <p:bldP spid="2" grpId="0" build="p"/>
      <p:bldP spid="3" grpId="0" build="p"/>
      <p:bldP spid="4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830</Words>
  <Application>Microsoft Macintosh PowerPoint</Application>
  <PresentationFormat>On-screen Show (16:10)</PresentationFormat>
  <Paragraphs>107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Avenir Book</vt:lpstr>
      <vt:lpstr>Calibri</vt:lpstr>
      <vt:lpstr>Söhne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Craig Johnson</cp:lastModifiedBy>
  <cp:revision>1</cp:revision>
  <dcterms:modified xsi:type="dcterms:W3CDTF">2023-09-14T11:20:43Z</dcterms:modified>
</cp:coreProperties>
</file>